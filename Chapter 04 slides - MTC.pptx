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323" r:id="rId2"/>
    <p:sldId id="429" r:id="rId3"/>
    <p:sldId id="432" r:id="rId4"/>
    <p:sldId id="365" r:id="rId5"/>
    <p:sldId id="435" r:id="rId6"/>
    <p:sldId id="437" r:id="rId7"/>
    <p:sldId id="370" r:id="rId8"/>
    <p:sldId id="372" r:id="rId9"/>
    <p:sldId id="440" r:id="rId10"/>
    <p:sldId id="395" r:id="rId11"/>
    <p:sldId id="397" r:id="rId12"/>
    <p:sldId id="442" r:id="rId13"/>
    <p:sldId id="398" r:id="rId14"/>
    <p:sldId id="287" r:id="rId15"/>
    <p:sldId id="288" r:id="rId16"/>
    <p:sldId id="401" r:id="rId17"/>
    <p:sldId id="450" r:id="rId18"/>
    <p:sldId id="443" r:id="rId19"/>
    <p:sldId id="444" r:id="rId20"/>
    <p:sldId id="445" r:id="rId21"/>
    <p:sldId id="446" r:id="rId22"/>
    <p:sldId id="447" r:id="rId23"/>
    <p:sldId id="448" r:id="rId24"/>
    <p:sldId id="406" r:id="rId25"/>
    <p:sldId id="407" r:id="rId26"/>
    <p:sldId id="408" r:id="rId27"/>
    <p:sldId id="425" r:id="rId28"/>
    <p:sldId id="419" r:id="rId29"/>
    <p:sldId id="449" r:id="rId30"/>
  </p:sldIdLst>
  <p:sldSz cx="12192000" cy="6858000"/>
  <p:notesSz cx="6881813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87" autoAdjust="0"/>
    <p:restoredTop sz="86452" autoAdjust="0"/>
  </p:normalViewPr>
  <p:slideViewPr>
    <p:cSldViewPr>
      <p:cViewPr varScale="1">
        <p:scale>
          <a:sx n="85" d="100"/>
          <a:sy n="85" d="100"/>
        </p:scale>
        <p:origin x="432" y="67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4362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8102" y="0"/>
            <a:ext cx="2982119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4633A84-D730-4DB1-B585-7559B92CE5D8}" type="datetimeFigureOut">
              <a:rPr lang="en-US"/>
              <a:pPr>
                <a:defRPr/>
              </a:pPr>
              <a:t>7/6/2026</a:t>
            </a:fld>
            <a:endParaRPr lang="en-US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967"/>
            <a:ext cx="2982119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8102" y="8829967"/>
            <a:ext cx="2982119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1C669EC8-97E7-4C24-A864-1853E75085D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85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694" y="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42900" y="696913"/>
            <a:ext cx="61976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32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7575" y="4415790"/>
            <a:ext cx="5046663" cy="4183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32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694" y="8831580"/>
            <a:ext cx="2982119" cy="464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82C5A2EE-74B4-4329-B2EC-6DFE0575EDC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4556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05891" y="2546143"/>
            <a:ext cx="8480869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2800" kern="1200" cap="all" spc="100" baseline="0">
                <a:solidFill>
                  <a:srgbClr val="E89223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1591125"/>
            <a:ext cx="8480869" cy="842361"/>
          </a:xfrm>
          <a:prstGeom prst="rect">
            <a:avLst/>
          </a:prstGeom>
        </p:spPr>
        <p:txBody>
          <a:bodyPr>
            <a:noAutofit/>
          </a:bodyPr>
          <a:lstStyle>
            <a:lvl1pPr algn="l">
              <a:defRPr sz="400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TITLE GOES HERE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4634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ubhead w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PPT Backgrounds_NEW COLORS2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4" y="0"/>
            <a:ext cx="12188388" cy="68580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7350" y="2152733"/>
            <a:ext cx="8547885" cy="438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/>
              <a:buNone/>
              <a:defRPr sz="1800" b="0" i="0" kern="1200" spc="0" baseline="0">
                <a:solidFill>
                  <a:srgbClr val="142C46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142C46"/>
                </a:solidFill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142C46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142C46"/>
                </a:solidFill>
                <a:latin typeface="+mn-lt"/>
              </a:defRPr>
            </a:lvl4pPr>
            <a:lvl5pPr marL="1828800" indent="0">
              <a:buClr>
                <a:srgbClr val="F7A800"/>
              </a:buClr>
              <a:buFont typeface="Arial" pitchFamily="34" charset="0"/>
              <a:buNone/>
              <a:defRPr sz="1800" b="0" i="0" kern="1200" spc="100" baseline="0">
                <a:solidFill>
                  <a:schemeClr val="bg1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Paragraph goes here. </a:t>
            </a:r>
          </a:p>
          <a:p>
            <a:pPr lvl="0"/>
            <a:r>
              <a:rPr lang="en-US" dirty="0"/>
              <a:t>And here as well if there is a second paragraph.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61232" y="1303780"/>
            <a:ext cx="8544003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kern="1200" cap="all" spc="100" baseline="0">
                <a:solidFill>
                  <a:srgbClr val="E89223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37331254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Subhead w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 Backgrounds_NEW COLORS3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7350" y="2152733"/>
            <a:ext cx="8547885" cy="438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/>
              <a:buNone/>
              <a:defRPr sz="1800" b="0" i="0" kern="1200" spc="0" baseline="0">
                <a:solidFill>
                  <a:schemeClr val="bg1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chemeClr val="bg1"/>
                </a:solidFill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chemeClr val="bg1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chemeClr val="bg1"/>
                </a:solidFill>
                <a:latin typeface="+mn-lt"/>
              </a:defRPr>
            </a:lvl4pPr>
            <a:lvl5pPr marL="1828800" indent="0">
              <a:buClr>
                <a:srgbClr val="F7A800"/>
              </a:buClr>
              <a:buFont typeface="Arial" pitchFamily="34" charset="0"/>
              <a:buNone/>
              <a:defRPr sz="1800" b="0" i="0" kern="1200" spc="100" baseline="0">
                <a:solidFill>
                  <a:schemeClr val="bg1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Paragraph goes here. </a:t>
            </a:r>
          </a:p>
          <a:p>
            <a:pPr lvl="0"/>
            <a:r>
              <a:rPr lang="en-US" dirty="0"/>
              <a:t>And here as well if there is a second paragraph.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61232" y="1303780"/>
            <a:ext cx="8544003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1" kern="1200" cap="all" spc="100" baseline="0">
                <a:solidFill>
                  <a:srgbClr val="0C436A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2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3797501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Subhead w_text_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PPT Backgrounds_NEW COLORS4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757350" y="2152733"/>
            <a:ext cx="8547885" cy="438816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/>
              <a:buNone/>
              <a:defRPr sz="1800" b="0" i="0" kern="1200" spc="0" baseline="0">
                <a:solidFill>
                  <a:srgbClr val="FFFFFF"/>
                </a:solidFill>
                <a:latin typeface="+mn-lt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FFFFFF"/>
                </a:solidFill>
                <a:latin typeface="+mn-lt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FFFFFF"/>
                </a:solidFill>
                <a:latin typeface="+mn-lt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rgbClr val="F7A800"/>
              </a:buClr>
              <a:buFont typeface="Arial" pitchFamily="34" charset="0"/>
              <a:buChar char="•"/>
              <a:defRPr sz="1800" b="0" i="0" kern="1200" spc="0" baseline="0">
                <a:solidFill>
                  <a:srgbClr val="FFFFFF"/>
                </a:solidFill>
                <a:latin typeface="+mn-lt"/>
              </a:defRPr>
            </a:lvl4pPr>
            <a:lvl5pPr marL="1828800" indent="0">
              <a:buClr>
                <a:srgbClr val="F7A800"/>
              </a:buClr>
              <a:buFont typeface="Arial" pitchFamily="34" charset="0"/>
              <a:buNone/>
              <a:defRPr sz="1800" b="0" i="0" kern="1200" spc="100" baseline="0">
                <a:solidFill>
                  <a:schemeClr val="bg1"/>
                </a:solidFill>
                <a:latin typeface="+mn-lt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Paragraph goes here. </a:t>
            </a:r>
          </a:p>
          <a:p>
            <a:pPr lvl="0"/>
            <a:r>
              <a:rPr lang="en-US" dirty="0"/>
              <a:t>And here as well if there is a second paragraph.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8" name="Subtitle 2"/>
          <p:cNvSpPr>
            <a:spLocks noGrp="1"/>
          </p:cNvSpPr>
          <p:nvPr>
            <p:ph type="subTitle" idx="10" hasCustomPrompt="1"/>
          </p:nvPr>
        </p:nvSpPr>
        <p:spPr>
          <a:xfrm>
            <a:off x="761232" y="1303780"/>
            <a:ext cx="8480869" cy="58521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800" b="1" kern="1200" cap="all" spc="100" baseline="0">
                <a:solidFill>
                  <a:srgbClr val="238DC1"/>
                </a:solidFill>
                <a:latin typeface="+mj-lt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Subtitle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4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rgbClr val="E8922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22401215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140276" y="1922960"/>
            <a:ext cx="3982179" cy="4070297"/>
          </a:xfr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FontTx/>
              <a:buNone/>
              <a:defRPr sz="1400" baseline="0">
                <a:solidFill>
                  <a:srgbClr val="909C9C"/>
                </a:solidFill>
              </a:defRPr>
            </a:lvl1pPr>
          </a:lstStyle>
          <a:p>
            <a:r>
              <a:rPr lang="en-US" dirty="0"/>
              <a:t>Drag photo here or click icon to insert photo in placeholder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5689600" y="1922960"/>
            <a:ext cx="3982179" cy="4070297"/>
          </a:xfr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FontTx/>
              <a:buNone/>
              <a:defRPr sz="1400" baseline="0">
                <a:solidFill>
                  <a:srgbClr val="909C9C"/>
                </a:solidFill>
              </a:defRPr>
            </a:lvl1pPr>
          </a:lstStyle>
          <a:p>
            <a:r>
              <a:rPr lang="en-US" dirty="0"/>
              <a:t>Drag photo here or click icon to insert photo in placeholder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5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300411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s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9" name="Picture Placeholder 9"/>
          <p:cNvSpPr>
            <a:spLocks noGrp="1"/>
          </p:cNvSpPr>
          <p:nvPr>
            <p:ph type="pic" sz="quarter" idx="14" hasCustomPrompt="1"/>
          </p:nvPr>
        </p:nvSpPr>
        <p:spPr>
          <a:xfrm>
            <a:off x="1140275" y="1922960"/>
            <a:ext cx="8531504" cy="4070297"/>
          </a:xfrm>
          <a:solidFill>
            <a:schemeClr val="bg1"/>
          </a:solidFill>
          <a:ln w="19050">
            <a:solidFill>
              <a:schemeClr val="bg1"/>
            </a:solidFill>
          </a:ln>
        </p:spPr>
        <p:txBody>
          <a:bodyPr>
            <a:normAutofit/>
          </a:bodyPr>
          <a:lstStyle>
            <a:lvl1pPr marL="0" indent="0">
              <a:buFontTx/>
              <a:buNone/>
              <a:defRPr sz="1400" baseline="0">
                <a:solidFill>
                  <a:srgbClr val="909C9C"/>
                </a:solidFill>
              </a:defRPr>
            </a:lvl1pPr>
          </a:lstStyle>
          <a:p>
            <a:r>
              <a:rPr lang="en-US" dirty="0"/>
              <a:t>Drag photo here or click icon to insert photo in placeholder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4675" y="5036259"/>
            <a:ext cx="1486976" cy="1093596"/>
          </a:xfrm>
          <a:prstGeom prst="rect">
            <a:avLst/>
          </a:prstGeom>
        </p:spPr>
      </p:pic>
      <p:sp>
        <p:nvSpPr>
          <p:cNvPr id="13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761232" y="726019"/>
            <a:ext cx="8544003" cy="512233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buNone/>
              <a:defRPr sz="2400" b="1" i="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Subhead (One line or two)</a:t>
            </a:r>
          </a:p>
        </p:txBody>
      </p:sp>
    </p:spTree>
    <p:extLst>
      <p:ext uri="{BB962C8B-B14F-4D97-AF65-F5344CB8AC3E}">
        <p14:creationId xmlns:p14="http://schemas.microsoft.com/office/powerpoint/2010/main" val="3989850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los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PT Backgrounds_NEW COLORS5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12188388" cy="6858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7232" y="2137831"/>
            <a:ext cx="3516973" cy="2586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666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85800"/>
            <a:ext cx="9753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600" b="1" i="0" baseline="0">
                <a:solidFill>
                  <a:srgbClr val="0033CC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1"/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Murach's JavaScript (2nd Ed.), C4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© 2015, Mike Murach &amp; Associates, Inc.</a:t>
            </a: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 algn="l">
              <a:defRPr sz="1400">
                <a:latin typeface="Times New Roman"/>
              </a:defRPr>
            </a:lvl1pPr>
          </a:lstStyle>
          <a:p>
            <a:pPr>
              <a:defRPr/>
            </a:pPr>
            <a:endParaRPr lang="en-US"/>
          </a:p>
          <a:p>
            <a:pPr algn="r">
              <a:defRPr/>
            </a:pPr>
            <a:r>
              <a:rPr lang="en-US" sz="900">
                <a:latin typeface="Arial Narrow" pitchFamily="34" charset="0"/>
              </a:rPr>
              <a:t>Slide </a:t>
            </a:r>
            <a:fld id="{5ECE9829-65B2-40C6-AEFF-7C648FF56A9C}" type="slidenum">
              <a:rPr lang="en-US" sz="900">
                <a:latin typeface="Arial Narrow" pitchFamily="34" charset="0"/>
              </a:rPr>
              <a:pPr algn="r">
                <a:defRPr/>
              </a:pPr>
              <a:t>‹#›</a:t>
            </a:fld>
            <a:endParaRPr lang="en-US" sz="900">
              <a:latin typeface="Arial Narrow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491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685800"/>
            <a:ext cx="10363200" cy="553998"/>
          </a:xfrm>
        </p:spPr>
        <p:txBody>
          <a:bodyPr lIns="0" tIns="0" rIns="0" bIns="0" anchor="t" anchorCtr="0">
            <a:spAutoFit/>
          </a:bodyPr>
          <a:lstStyle>
            <a:lvl1pPr>
              <a:defRPr sz="3600" b="1" i="0" baseline="0">
                <a:solidFill>
                  <a:srgbClr val="0033CC"/>
                </a:solidFill>
              </a:defRPr>
            </a:lvl1pPr>
          </a:lstStyle>
          <a:p>
            <a:r>
              <a:rPr lang="en-US" dirty="0"/>
              <a:t>Chapter number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JavaScript (2nd Ed.), C4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2015,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38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_layou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219200" y="624989"/>
            <a:ext cx="97536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algn="l">
              <a:defRPr sz="2400" b="1" i="0" baseline="0">
                <a:solidFill>
                  <a:srgbClr val="000099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</p:nvPr>
        </p:nvSpPr>
        <p:spPr>
          <a:xfrm>
            <a:off x="1117600" y="1066800"/>
            <a:ext cx="9855200" cy="4876800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Murach's JavaScript &amp; jQuery (4th Ed)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2020, Mike Murach &amp; Associates, Inc.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>
              <a:defRPr/>
            </a:pPr>
            <a:endParaRPr lang="en-US" sz="1400" dirty="0">
              <a:latin typeface="Times New Roman"/>
            </a:endParaRPr>
          </a:p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C4, Slide </a:t>
            </a:r>
            <a:fld id="{BF5C1183-B085-4070-A402-C03A3F977D3D}" type="slidenum">
              <a:rPr lang="en-US" smtClean="0">
                <a:solidFill>
                  <a:schemeClr val="bg1"/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47201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Murach's JavaScript (2nd Ed.), C4</a:t>
            </a:r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© 2015, Mike Murach &amp; Associates, Inc.</a:t>
            </a:r>
          </a:p>
        </p:txBody>
      </p:sp>
      <p:sp>
        <p:nvSpPr>
          <p:cNvPr id="15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>
              <a:defRPr/>
            </a:pPr>
            <a:endParaRPr lang="en-US" sz="1400">
              <a:latin typeface="Times New Roman"/>
            </a:endParaRPr>
          </a:p>
          <a:p>
            <a:pPr>
              <a:defRPr/>
            </a:pPr>
            <a:r>
              <a:rPr lang="en-US"/>
              <a:t>Slide </a:t>
            </a:r>
            <a:fld id="{BF5C1183-B085-4070-A402-C03A3F977D3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D287FE9-7190-32DA-F2F2-1FB847B19B1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62304" y="5529669"/>
            <a:ext cx="1115232" cy="820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200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71" r:id="rId9"/>
    <p:sldLayoutId id="2147483681" r:id="rId10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3600" b="0" i="0" kern="1200" cap="all" spc="100">
          <a:solidFill>
            <a:srgbClr val="0C436A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•"/>
        <a:defRPr sz="3000" kern="1200" spc="100">
          <a:solidFill>
            <a:srgbClr val="238DC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–"/>
        <a:defRPr sz="2800" kern="1200" spc="100">
          <a:solidFill>
            <a:srgbClr val="238DC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•"/>
        <a:defRPr sz="2400" kern="1200" spc="100">
          <a:solidFill>
            <a:srgbClr val="238DC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–"/>
        <a:defRPr sz="2000" kern="1200" spc="100">
          <a:solidFill>
            <a:srgbClr val="238DC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Clr>
          <a:srgbClr val="F7A800"/>
        </a:buClr>
        <a:buFont typeface="Arial"/>
        <a:buChar char="»"/>
        <a:defRPr sz="2000" kern="1200" spc="100">
          <a:solidFill>
            <a:srgbClr val="238DC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package" Target="../embeddings/Microsoft_Word_Document1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Document2.docx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package" Target="../embeddings/Microsoft_Word_Document3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Document4.docx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Word_Document5.docx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package" Target="../embeddings/Microsoft_Word_Document6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emf"/><Relationship Id="rId4" Type="http://schemas.openxmlformats.org/officeDocument/2006/relationships/package" Target="../embeddings/Microsoft_Word_Document7.docx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package" Target="../embeddings/Microsoft_Word_Document8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Document9.docx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package" Target="../embeddings/Microsoft_Word_Document10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Document11.docx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package" Target="../embeddings/Microsoft_Word_Document12.docx"/><Relationship Id="rId1" Type="http://schemas.openxmlformats.org/officeDocument/2006/relationships/slideLayout" Target="../slideLayouts/slideLayout8.xml"/><Relationship Id="rId6" Type="http://schemas.openxmlformats.org/officeDocument/2006/relationships/package" Target="../embeddings/Microsoft_Word_Document14.docx"/><Relationship Id="rId5" Type="http://schemas.openxmlformats.org/officeDocument/2006/relationships/image" Target="../media/image21.emf"/><Relationship Id="rId4" Type="http://schemas.openxmlformats.org/officeDocument/2006/relationships/package" Target="../embeddings/Microsoft_Word_Document13.docx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package" Target="../embeddings/Microsoft_Word_Document15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Document16.docx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package" Target="../embeddings/Microsoft_Word_Document17.docx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package" Target="../embeddings/Microsoft_Word_Document18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Document19.docx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package" Target="../embeddings/Microsoft_Word_Document20.docx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Document21.docx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package" Target="../embeddings/Microsoft_Word_Document22.docx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7" Type="http://schemas.openxmlformats.org/officeDocument/2006/relationships/image" Target="../media/image40.emf"/><Relationship Id="rId2" Type="http://schemas.openxmlformats.org/officeDocument/2006/relationships/package" Target="../embeddings/Microsoft_Word_Document23.docx"/><Relationship Id="rId1" Type="http://schemas.openxmlformats.org/officeDocument/2006/relationships/slideLayout" Target="../slideLayouts/slideLayout8.xml"/><Relationship Id="rId6" Type="http://schemas.openxmlformats.org/officeDocument/2006/relationships/package" Target="../embeddings/Microsoft_Word_Document25.docx"/><Relationship Id="rId5" Type="http://schemas.openxmlformats.org/officeDocument/2006/relationships/image" Target="../media/image39.emf"/><Relationship Id="rId4" Type="http://schemas.openxmlformats.org/officeDocument/2006/relationships/package" Target="../embeddings/Microsoft_Word_Document24.docx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Document29.docx"/><Relationship Id="rId3" Type="http://schemas.openxmlformats.org/officeDocument/2006/relationships/image" Target="../media/image41.emf"/><Relationship Id="rId7" Type="http://schemas.openxmlformats.org/officeDocument/2006/relationships/image" Target="../media/image43.emf"/><Relationship Id="rId2" Type="http://schemas.openxmlformats.org/officeDocument/2006/relationships/package" Target="../embeddings/Microsoft_Word_Document26.docx"/><Relationship Id="rId1" Type="http://schemas.openxmlformats.org/officeDocument/2006/relationships/slideLayout" Target="../slideLayouts/slideLayout8.xml"/><Relationship Id="rId6" Type="http://schemas.openxmlformats.org/officeDocument/2006/relationships/package" Target="../embeddings/Microsoft_Word_Document28.docx"/><Relationship Id="rId11" Type="http://schemas.openxmlformats.org/officeDocument/2006/relationships/image" Target="../media/image45.emf"/><Relationship Id="rId5" Type="http://schemas.openxmlformats.org/officeDocument/2006/relationships/image" Target="../media/image42.emf"/><Relationship Id="rId10" Type="http://schemas.openxmlformats.org/officeDocument/2006/relationships/package" Target="../embeddings/Microsoft_Word_Document30.docx"/><Relationship Id="rId4" Type="http://schemas.openxmlformats.org/officeDocument/2006/relationships/package" Target="../embeddings/Microsoft_Word_Document27.docx"/><Relationship Id="rId9" Type="http://schemas.openxmlformats.org/officeDocument/2006/relationships/image" Target="../media/image44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2" Type="http://schemas.openxmlformats.org/officeDocument/2006/relationships/package" Target="../embeddings/Microsoft_Word_Document31.docx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1126869"/>
            <a:ext cx="7315200" cy="677108"/>
          </a:xfrm>
        </p:spPr>
        <p:txBody>
          <a:bodyPr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Chapter 4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6607584"/>
              </p:ext>
            </p:extLst>
          </p:nvPr>
        </p:nvGraphicFramePr>
        <p:xfrm>
          <a:off x="2430463" y="1587500"/>
          <a:ext cx="7146925" cy="293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7315170" imgH="3002999" progId="Word.Document.12">
                  <p:embed/>
                </p:oleObj>
              </mc:Choice>
              <mc:Fallback>
                <p:oleObj name="Document" r:id="rId3" imgW="7315170" imgH="300299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0463" y="1587500"/>
                        <a:ext cx="7146925" cy="2936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54958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38400" y="685801"/>
            <a:ext cx="7315200" cy="800219"/>
          </a:xfrm>
        </p:spPr>
        <p:txBody>
          <a:bodyPr/>
          <a:lstStyle/>
          <a:p>
            <a:r>
              <a:rPr lang="en-US" dirty="0"/>
              <a:t>Another method of the window object </a:t>
            </a:r>
            <a:br>
              <a:rPr lang="en-US" dirty="0"/>
            </a:br>
            <a:r>
              <a:rPr lang="en-US" dirty="0"/>
              <a:t>that displays a dialog box – page 109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8461984"/>
              </p:ext>
            </p:extLst>
          </p:nvPr>
        </p:nvGraphicFramePr>
        <p:xfrm>
          <a:off x="2094434" y="1676400"/>
          <a:ext cx="9030766" cy="228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1848218" progId="Word.Document.12">
                  <p:embed/>
                </p:oleObj>
              </mc:Choice>
              <mc:Fallback>
                <p:oleObj name="Document" r:id="rId2" imgW="7301323" imgH="1848218" progId="Word.Document.12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94434" y="1676400"/>
                        <a:ext cx="9030766" cy="2286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6A2054AC-8443-01DD-8912-5E5A80B76294}"/>
              </a:ext>
            </a:extLst>
          </p:cNvPr>
          <p:cNvSpPr txBox="1">
            <a:spLocks/>
          </p:cNvSpPr>
          <p:nvPr/>
        </p:nvSpPr>
        <p:spPr bwMode="auto">
          <a:xfrm>
            <a:off x="1828800" y="2438401"/>
            <a:ext cx="731520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Two methods of the window object </a:t>
            </a:r>
            <a:br>
              <a:rPr lang="en-US" dirty="0"/>
            </a:br>
            <a:r>
              <a:rPr lang="en-US" dirty="0"/>
              <a:t>for working with numbers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FF7CE10B-953A-4D07-0114-19EBEAD33A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876218"/>
              </p:ext>
            </p:extLst>
          </p:nvPr>
        </p:nvGraphicFramePr>
        <p:xfrm>
          <a:off x="1640498" y="3638182"/>
          <a:ext cx="9408502" cy="23816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1848218" progId="Word.Document.12">
                  <p:embed/>
                </p:oleObj>
              </mc:Choice>
              <mc:Fallback>
                <p:oleObj name="Document" r:id="rId4" imgW="7301323" imgH="1848218" progId="Word.Document.12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40498" y="3638182"/>
                        <a:ext cx="9408502" cy="238161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1974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 methods of the document object</a:t>
            </a: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49218445"/>
              </p:ext>
            </p:extLst>
          </p:nvPr>
        </p:nvGraphicFramePr>
        <p:xfrm>
          <a:off x="2511426" y="1219200"/>
          <a:ext cx="7301323" cy="2000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2000526" progId="Word.Document.12">
                  <p:embed/>
                </p:oleObj>
              </mc:Choice>
              <mc:Fallback>
                <p:oleObj name="Document" r:id="rId2" imgW="7301323" imgH="2000526" progId="Word.Document.1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1426" y="1219200"/>
                        <a:ext cx="7301323" cy="2000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979CBDB9-5F3B-DAAD-6DEC-2E92393E30BE}"/>
              </a:ext>
            </a:extLst>
          </p:cNvPr>
          <p:cNvSpPr txBox="1">
            <a:spLocks/>
          </p:cNvSpPr>
          <p:nvPr/>
        </p:nvSpPr>
        <p:spPr bwMode="auto">
          <a:xfrm>
            <a:off x="1143000" y="2438400"/>
            <a:ext cx="9753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Examples of document methods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47A65C6-040C-B82F-A7D7-3E05AC70EA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1361565"/>
              </p:ext>
            </p:extLst>
          </p:nvPr>
        </p:nvGraphicFramePr>
        <p:xfrm>
          <a:off x="2435226" y="2971800"/>
          <a:ext cx="7301323" cy="20005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2000526" progId="Word.Document.12">
                  <p:embed/>
                </p:oleObj>
              </mc:Choice>
              <mc:Fallback>
                <p:oleObj name="Document" r:id="rId4" imgW="7301323" imgH="2000526" progId="Word.Document.12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6" y="2971800"/>
                        <a:ext cx="7301323" cy="20005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51491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Members of the Textbox object – page 111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97095940"/>
              </p:ext>
            </p:extLst>
          </p:nvPr>
        </p:nvGraphicFramePr>
        <p:xfrm>
          <a:off x="2438401" y="1082675"/>
          <a:ext cx="7301323" cy="2579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2579872" progId="Word.Document.12">
                  <p:embed/>
                </p:oleObj>
              </mc:Choice>
              <mc:Fallback>
                <p:oleObj name="Document" r:id="rId2" imgW="7301323" imgH="257987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38401" y="1082675"/>
                        <a:ext cx="7301323" cy="2579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30120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tags that define two text boxes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5148634"/>
              </p:ext>
            </p:extLst>
          </p:nvPr>
        </p:nvGraphicFramePr>
        <p:xfrm>
          <a:off x="2514601" y="1219200"/>
          <a:ext cx="7301323" cy="2580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2580232" progId="Word.Document.12">
                  <p:embed/>
                </p:oleObj>
              </mc:Choice>
              <mc:Fallback>
                <p:oleObj name="Document" r:id="rId2" imgW="7301323" imgH="258023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1" y="1219200"/>
                        <a:ext cx="7301323" cy="2580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32550695-7288-167B-B576-A607FD4E58BD}"/>
              </a:ext>
            </a:extLst>
          </p:cNvPr>
          <p:cNvSpPr txBox="1">
            <a:spLocks/>
          </p:cNvSpPr>
          <p:nvPr/>
        </p:nvSpPr>
        <p:spPr bwMode="auto">
          <a:xfrm>
            <a:off x="1160051" y="2133600"/>
            <a:ext cx="876300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How to use the value property to get the value from a text box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1111D7E-DFEB-D939-74F5-06AFA6BE9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9402335"/>
              </p:ext>
            </p:extLst>
          </p:nvPr>
        </p:nvGraphicFramePr>
        <p:xfrm>
          <a:off x="2680877" y="2982367"/>
          <a:ext cx="7301323" cy="2580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2580232" progId="Word.Document.12">
                  <p:embed/>
                </p:oleObj>
              </mc:Choice>
              <mc:Fallback>
                <p:oleObj name="Document" r:id="rId4" imgW="7301323" imgH="2580232" progId="Word.Documen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680877" y="2982367"/>
                        <a:ext cx="7301323" cy="2580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493422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1"/>
            <a:ext cx="9067800" cy="800219"/>
          </a:xfrm>
        </p:spPr>
        <p:txBody>
          <a:bodyPr/>
          <a:lstStyle/>
          <a:p>
            <a:r>
              <a:rPr lang="en-US" dirty="0"/>
              <a:t>How to use the </a:t>
            </a:r>
            <a:r>
              <a:rPr lang="en-US" dirty="0" err="1"/>
              <a:t>parseFloat</a:t>
            </a:r>
            <a:r>
              <a:rPr lang="en-US" dirty="0"/>
              <a:t> method to get a number value from a text box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9791843"/>
              </p:ext>
            </p:extLst>
          </p:nvPr>
        </p:nvGraphicFramePr>
        <p:xfrm>
          <a:off x="2286001" y="1524000"/>
          <a:ext cx="7566025" cy="2579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563539" imgH="2592600" progId="Word.Document.12">
                  <p:embed/>
                </p:oleObj>
              </mc:Choice>
              <mc:Fallback>
                <p:oleObj name="Document" r:id="rId2" imgW="7563539" imgH="259260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286001" y="1524000"/>
                        <a:ext cx="7566025" cy="2579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75ED1089-DCEC-DA01-9D33-9068014097C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5098957"/>
              </p:ext>
            </p:extLst>
          </p:nvPr>
        </p:nvGraphicFramePr>
        <p:xfrm>
          <a:off x="2163763" y="4654550"/>
          <a:ext cx="7526337" cy="2508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692994" imgH="2577684" progId="Word.Document.12">
                  <p:embed/>
                </p:oleObj>
              </mc:Choice>
              <mc:Fallback>
                <p:oleObj name="Document" r:id="rId4" imgW="7692994" imgH="2577684" progId="Word.Documen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63763" y="4654550"/>
                        <a:ext cx="7526337" cy="25082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04353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create a JavaScript object – page 113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65714870"/>
              </p:ext>
            </p:extLst>
          </p:nvPr>
        </p:nvGraphicFramePr>
        <p:xfrm>
          <a:off x="2520950" y="1081088"/>
          <a:ext cx="7269163" cy="163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22542" imgH="1660564" progId="Word.Document.12">
                  <p:embed/>
                </p:oleObj>
              </mc:Choice>
              <mc:Fallback>
                <p:oleObj name="Document" r:id="rId2" imgW="7322542" imgH="16605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0950" y="1081088"/>
                        <a:ext cx="7269163" cy="16398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EF72D7C5-92CC-8469-3358-C6353079A435}"/>
              </a:ext>
            </a:extLst>
          </p:cNvPr>
          <p:cNvSpPr txBox="1">
            <a:spLocks/>
          </p:cNvSpPr>
          <p:nvPr/>
        </p:nvSpPr>
        <p:spPr bwMode="auto">
          <a:xfrm>
            <a:off x="1219200" y="3287712"/>
            <a:ext cx="9753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few of the methods of a Date object</a:t>
            </a:r>
            <a:endParaRPr lang="en-US" dirty="0"/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D309A0E-8F6C-C522-31C6-C411CC11CC8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9580116"/>
              </p:ext>
            </p:extLst>
          </p:nvPr>
        </p:nvGraphicFramePr>
        <p:xfrm>
          <a:off x="2514600" y="3778250"/>
          <a:ext cx="7272338" cy="1327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13400" imgH="1340553" progId="Word.Document.12">
                  <p:embed/>
                </p:oleObj>
              </mc:Choice>
              <mc:Fallback>
                <p:oleObj name="Document" r:id="rId4" imgW="7313400" imgH="1340553" progId="Word.Documen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4600" y="3778250"/>
                        <a:ext cx="7272338" cy="13271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1000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Properties and methods of a String object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250234"/>
              </p:ext>
            </p:extLst>
          </p:nvPr>
        </p:nvGraphicFramePr>
        <p:xfrm>
          <a:off x="2520950" y="1069975"/>
          <a:ext cx="7269163" cy="2787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22542" imgH="2813463" progId="Word.Document.12">
                  <p:embed/>
                </p:oleObj>
              </mc:Choice>
              <mc:Fallback>
                <p:oleObj name="Document" r:id="rId2" imgW="7322542" imgH="28134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0950" y="1069975"/>
                        <a:ext cx="7269163" cy="27876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06420513"/>
              </p:ext>
            </p:extLst>
          </p:nvPr>
        </p:nvGraphicFramePr>
        <p:xfrm>
          <a:off x="2438401" y="4114800"/>
          <a:ext cx="7301323" cy="6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617513" progId="Word.Document.12">
                  <p:embed/>
                </p:oleObj>
              </mc:Choice>
              <mc:Fallback>
                <p:oleObj name="Document" r:id="rId4" imgW="7301323" imgH="6175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38401" y="4114800"/>
                        <a:ext cx="7301323" cy="6175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0929456"/>
              </p:ext>
            </p:extLst>
          </p:nvPr>
        </p:nvGraphicFramePr>
        <p:xfrm>
          <a:off x="2514600" y="4876800"/>
          <a:ext cx="7300912" cy="1157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301323" imgH="1157612" progId="Word.Document.12">
                  <p:embed/>
                </p:oleObj>
              </mc:Choice>
              <mc:Fallback>
                <p:oleObj name="Document" r:id="rId6" imgW="7301323" imgH="11576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0" y="4876800"/>
                        <a:ext cx="7300912" cy="11572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2937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DOM for the web page – page 115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5966" y="1298444"/>
            <a:ext cx="6382451" cy="2892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44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syntax for a function </a:t>
            </a:r>
            <a:r>
              <a:rPr lang="en-US" dirty="0">
                <a:solidFill>
                  <a:srgbClr val="FF0000"/>
                </a:solidFill>
              </a:rPr>
              <a:t>expression</a:t>
            </a:r>
            <a:r>
              <a:rPr lang="en-US" dirty="0"/>
              <a:t> – page 117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BC7A9D21-43A7-B870-13B5-0A730E8BA989}"/>
              </a:ext>
            </a:extLst>
          </p:cNvPr>
          <p:cNvSpPr txBox="1">
            <a:spLocks/>
          </p:cNvSpPr>
          <p:nvPr/>
        </p:nvSpPr>
        <p:spPr bwMode="auto">
          <a:xfrm>
            <a:off x="762000" y="2667000"/>
            <a:ext cx="899160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function </a:t>
            </a:r>
            <a:r>
              <a:rPr lang="en-US" dirty="0">
                <a:solidFill>
                  <a:srgbClr val="FF0000"/>
                </a:solidFill>
              </a:rPr>
              <a:t>expression</a:t>
            </a:r>
            <a:r>
              <a:rPr lang="en-US" dirty="0"/>
              <a:t> with one PARAMETER that returns a DOM element – do not use $!!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E7266D6-C607-F2CE-2A13-7B4BF3D7D567}"/>
              </a:ext>
            </a:extLst>
          </p:cNvPr>
          <p:cNvSpPr txBox="1"/>
          <p:nvPr/>
        </p:nvSpPr>
        <p:spPr>
          <a:xfrm>
            <a:off x="1371600" y="1199527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 </a:t>
            </a:r>
            <a:r>
              <a:rPr lang="en-US" sz="1800" b="1" i="1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variableName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function(</a:t>
            </a:r>
            <a:r>
              <a:rPr lang="en-US" sz="1800" b="1" i="1" dirty="0">
                <a:effectLst/>
                <a:highlight>
                  <a:srgbClr val="00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// statements that run when the function is executed</a:t>
            </a:r>
          </a:p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}[;]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EFDD58-4EFF-1F7E-56DF-6CC4E58113FB}"/>
              </a:ext>
            </a:extLst>
          </p:cNvPr>
          <p:cNvSpPr txBox="1"/>
          <p:nvPr/>
        </p:nvSpPr>
        <p:spPr>
          <a:xfrm>
            <a:off x="914400" y="4841758"/>
            <a:ext cx="75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500"/>
              </a:spcBef>
              <a:spcAft>
                <a:spcPts val="600"/>
              </a:spcAft>
              <a:buNone/>
              <a:tabLst>
                <a:tab pos="1371600" algn="l"/>
              </a:tabLst>
            </a:pPr>
            <a:r>
              <a:rPr lang="en-US" sz="1800" b="1" dirty="0">
                <a:solidFill>
                  <a:srgbClr val="00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statement that calls the </a:t>
            </a:r>
            <a:r>
              <a:rPr lang="en-US" sz="1800" b="1" dirty="0" err="1">
                <a:solidFill>
                  <a:srgbClr val="00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xFnDef</a:t>
            </a:r>
            <a:r>
              <a:rPr lang="en-US" sz="1800" b="1" dirty="0">
                <a:solidFill>
                  <a:srgbClr val="00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 with one argument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ABE41-75A9-9B82-1AF9-DD012A1690EE}"/>
              </a:ext>
            </a:extLst>
          </p:cNvPr>
          <p:cNvSpPr txBox="1"/>
          <p:nvPr/>
        </p:nvSpPr>
        <p:spPr>
          <a:xfrm>
            <a:off x="2057400" y="3648670"/>
            <a:ext cx="7086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xFnDef</a:t>
            </a: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function (id) {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 </a:t>
            </a:r>
            <a:r>
              <a:rPr lang="en-US" sz="1800" b="1" dirty="0" err="1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(id).value;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800" b="1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33E48E-6074-ACF8-0445-F512B6426215}"/>
              </a:ext>
            </a:extLst>
          </p:cNvPr>
          <p:cNvSpPr txBox="1"/>
          <p:nvPr/>
        </p:nvSpPr>
        <p:spPr>
          <a:xfrm>
            <a:off x="918882" y="5480848"/>
            <a:ext cx="84537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7345" marR="0">
              <a:buNone/>
              <a:tabLst>
                <a:tab pos="1371600" algn="l"/>
              </a:tabLst>
            </a:pP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emailAddress1 = </a:t>
            </a:r>
            <a:r>
              <a:rPr lang="en-US" b="1" dirty="0" err="1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xFnDef</a:t>
            </a:r>
            <a:r>
              <a:rPr lang="en-US" sz="1800" b="1" dirty="0">
                <a:effectLst/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("email_address1")</a:t>
            </a:r>
            <a:r>
              <a:rPr lang="en-US" sz="1800" b="1" dirty="0">
                <a:effectLst/>
                <a:highlight>
                  <a:srgbClr val="FFFFFF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1800" b="1" dirty="0">
              <a:effectLst/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767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9067800" cy="800219"/>
          </a:xfrm>
        </p:spPr>
        <p:txBody>
          <a:bodyPr/>
          <a:lstStyle/>
          <a:p>
            <a:r>
              <a:rPr lang="en-US" dirty="0"/>
              <a:t>A function </a:t>
            </a:r>
            <a:r>
              <a:rPr lang="en-US" dirty="0">
                <a:solidFill>
                  <a:srgbClr val="FF0000"/>
                </a:solidFill>
              </a:rPr>
              <a:t>expression</a:t>
            </a:r>
            <a:r>
              <a:rPr lang="en-US" dirty="0"/>
              <a:t> with no </a:t>
            </a:r>
            <a:r>
              <a:rPr lang="en-US" dirty="0">
                <a:highlight>
                  <a:srgbClr val="FFFF00"/>
                </a:highlight>
              </a:rPr>
              <a:t>parameters</a:t>
            </a:r>
            <a:r>
              <a:rPr lang="en-US" dirty="0"/>
              <a:t> that doesn’t return a value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4639507"/>
              </p:ext>
            </p:extLst>
          </p:nvPr>
        </p:nvGraphicFramePr>
        <p:xfrm>
          <a:off x="2514600" y="1663700"/>
          <a:ext cx="7300912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13400" imgH="926443" progId="Word.Document.12">
                  <p:embed/>
                </p:oleObj>
              </mc:Choice>
              <mc:Fallback>
                <p:oleObj name="Document" r:id="rId2" imgW="7313400" imgH="92644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1663700"/>
                        <a:ext cx="7300912" cy="927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75451228"/>
              </p:ext>
            </p:extLst>
          </p:nvPr>
        </p:nvGraphicFramePr>
        <p:xfrm>
          <a:off x="2514600" y="3352801"/>
          <a:ext cx="7300912" cy="236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236563" progId="Word.Document.12">
                  <p:embed/>
                </p:oleObj>
              </mc:Choice>
              <mc:Fallback>
                <p:oleObj name="Document" r:id="rId4" imgW="7301323" imgH="2365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514600" y="3352801"/>
                        <a:ext cx="7300912" cy="2365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6B87687-4D16-2E45-A2B1-2CE98E22BEF8}"/>
              </a:ext>
            </a:extLst>
          </p:cNvPr>
          <p:cNvSpPr txBox="1"/>
          <p:nvPr/>
        </p:nvSpPr>
        <p:spPr>
          <a:xfrm>
            <a:off x="457200" y="3985106"/>
            <a:ext cx="96012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none" strike="noStrike" dirty="0">
                <a:effectLst/>
                <a:latin typeface="Google Sans"/>
              </a:rPr>
              <a:t>parameters</a:t>
            </a:r>
            <a:r>
              <a:rPr lang="en-US" sz="2400" dirty="0"/>
              <a:t> are the variable placeholders defined inside a function's signature</a:t>
            </a:r>
          </a:p>
          <a:p>
            <a:r>
              <a:rPr lang="en-US" sz="2400" b="1" u="none" strike="noStrike" dirty="0">
                <a:effectLst/>
                <a:latin typeface="Google Sans"/>
              </a:rPr>
              <a:t>arguments</a:t>
            </a:r>
            <a:r>
              <a:rPr lang="en-US" sz="2400" dirty="0"/>
              <a:t> are the actual values passed into those placeholders when the function is called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7285B94-9C13-8095-7B77-9FBD2D00560A}"/>
              </a:ext>
            </a:extLst>
          </p:cNvPr>
          <p:cNvSpPr txBox="1"/>
          <p:nvPr/>
        </p:nvSpPr>
        <p:spPr>
          <a:xfrm>
            <a:off x="1143000" y="2692066"/>
            <a:ext cx="754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1500"/>
              </a:spcBef>
              <a:spcAft>
                <a:spcPts val="600"/>
              </a:spcAft>
              <a:buNone/>
              <a:tabLst>
                <a:tab pos="1371600" algn="l"/>
              </a:tabLst>
            </a:pPr>
            <a:r>
              <a:rPr lang="en-US" sz="1800" b="1" dirty="0">
                <a:solidFill>
                  <a:srgbClr val="00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statement that calls the </a:t>
            </a:r>
            <a:r>
              <a:rPr lang="en-US" sz="1800" b="1" dirty="0" err="1">
                <a:solidFill>
                  <a:srgbClr val="00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showYear</a:t>
            </a:r>
            <a:r>
              <a:rPr lang="en-US" sz="1800" b="1" dirty="0">
                <a:solidFill>
                  <a:srgbClr val="0033CC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function with no parameters</a:t>
            </a:r>
          </a:p>
        </p:txBody>
      </p:sp>
    </p:spTree>
    <p:extLst>
      <p:ext uri="{BB962C8B-B14F-4D97-AF65-F5344CB8AC3E}">
        <p14:creationId xmlns:p14="http://schemas.microsoft.com/office/powerpoint/2010/main" val="16579710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8991600" cy="800219"/>
          </a:xfrm>
        </p:spPr>
        <p:txBody>
          <a:bodyPr/>
          <a:lstStyle/>
          <a:p>
            <a:r>
              <a:rPr lang="en-US" dirty="0"/>
              <a:t>A function </a:t>
            </a:r>
            <a:r>
              <a:rPr lang="en-US" dirty="0">
                <a:solidFill>
                  <a:srgbClr val="FF0000"/>
                </a:solidFill>
              </a:rPr>
              <a:t>expression</a:t>
            </a:r>
            <a:r>
              <a:rPr lang="en-US" dirty="0"/>
              <a:t> with two parameters that returns a value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2536341"/>
              </p:ext>
            </p:extLst>
          </p:nvPr>
        </p:nvGraphicFramePr>
        <p:xfrm>
          <a:off x="2520950" y="1628775"/>
          <a:ext cx="7269163" cy="299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22542" imgH="3023607" progId="Word.Document.12">
                  <p:embed/>
                </p:oleObj>
              </mc:Choice>
              <mc:Fallback>
                <p:oleObj name="Document" r:id="rId2" imgW="7322542" imgH="302360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20950" y="1628775"/>
                        <a:ext cx="7269163" cy="29987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79600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09575"/>
            <a:ext cx="9753600" cy="400110"/>
          </a:xfrm>
        </p:spPr>
        <p:txBody>
          <a:bodyPr/>
          <a:lstStyle/>
          <a:p>
            <a:r>
              <a:rPr lang="en-US" dirty="0"/>
              <a:t>The syntax for a function </a:t>
            </a:r>
            <a:r>
              <a:rPr lang="en-US" dirty="0">
                <a:solidFill>
                  <a:srgbClr val="FF0000"/>
                </a:solidFill>
              </a:rPr>
              <a:t>declaration</a:t>
            </a:r>
            <a:r>
              <a:rPr lang="en-US" dirty="0"/>
              <a:t> – page 119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6545131"/>
              </p:ext>
            </p:extLst>
          </p:nvPr>
        </p:nvGraphicFramePr>
        <p:xfrm>
          <a:off x="2514600" y="931863"/>
          <a:ext cx="730091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697088" progId="Word.Document.12">
                  <p:embed/>
                </p:oleObj>
              </mc:Choice>
              <mc:Fallback>
                <p:oleObj name="Document" r:id="rId2" imgW="7301323" imgH="6970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931863"/>
                        <a:ext cx="7300912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>
            <a:extLst>
              <a:ext uri="{FF2B5EF4-FFF2-40B4-BE49-F238E27FC236}">
                <a16:creationId xmlns:a16="http://schemas.microsoft.com/office/drawing/2014/main" id="{C2DADF21-96CA-2604-3B41-6464EAA143F4}"/>
              </a:ext>
            </a:extLst>
          </p:cNvPr>
          <p:cNvSpPr txBox="1">
            <a:spLocks/>
          </p:cNvSpPr>
          <p:nvPr/>
        </p:nvSpPr>
        <p:spPr bwMode="auto">
          <a:xfrm>
            <a:off x="533400" y="1958059"/>
            <a:ext cx="914400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A function </a:t>
            </a:r>
            <a:r>
              <a:rPr lang="en-US" dirty="0">
                <a:solidFill>
                  <a:srgbClr val="FF0000"/>
                </a:solidFill>
              </a:rPr>
              <a:t>declaration</a:t>
            </a:r>
            <a:r>
              <a:rPr lang="en-US" dirty="0"/>
              <a:t> with two parameters that returns a value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40EC3BCC-CB04-F9EA-4580-F411CCBD8E8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5316063"/>
              </p:ext>
            </p:extLst>
          </p:nvPr>
        </p:nvGraphicFramePr>
        <p:xfrm>
          <a:off x="2441575" y="3021013"/>
          <a:ext cx="7270750" cy="345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22542" imgH="3491915" progId="Word.Document.12">
                  <p:embed/>
                </p:oleObj>
              </mc:Choice>
              <mc:Fallback>
                <p:oleObj name="Document" r:id="rId4" imgW="7322542" imgH="3491915" progId="Word.Documen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41575" y="3021013"/>
                        <a:ext cx="7270750" cy="3455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918467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26C85-BD66-465E-A04C-D09BF5C5D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Es6 – The syntax for an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arrow function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83F73C-51CE-42BB-BDCF-6245454DF59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347345" algn="just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i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constantName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(</a:t>
            </a:r>
            <a:r>
              <a:rPr lang="en-US" sz="1600" b="1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parameters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=&gt; {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// </a:t>
            </a:r>
            <a:r>
              <a:rPr lang="en-US" sz="1600" b="1" i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statements that run when the function is executed</a:t>
            </a:r>
            <a:endParaRPr lang="en-US" sz="1600" b="1" dirty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code for a function expression 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calculateTax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function(subtotal,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taxRate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const tax = subtotal *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taxRate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tax.toFixed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(2);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code rewritten as an arrow function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calculateTax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(subtotal,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taxRate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=&gt;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{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const tax = subtotal *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taxRate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tax.toFixed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(2);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057038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AA1B1-7404-4D58-AF4A-408893C8C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Es6 – An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arrow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with one parameter 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7F1984-6384-432F-8984-A4AE97C99F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calculateTax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subtotal =&gt; {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const tax = subtotal * 0.074;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return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tax.toFixed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(2);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arrow function with one parameter that executes one statement</a:t>
            </a:r>
          </a:p>
          <a:p>
            <a:pPr marL="347345">
              <a:spcBef>
                <a:spcPts val="0"/>
              </a:spcBef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calculateTax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subtotal =&gt;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(subtotal * 0.074).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toFixed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(2);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 arrow function with </a:t>
            </a:r>
            <a:r>
              <a:rPr lang="en-US" sz="2400" b="1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 parameters that </a:t>
            </a: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executes one statement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getCurrentUrl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>
                <a:highlight>
                  <a:srgbClr val="FFFF00"/>
                </a:highlight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=&gt;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document.location.href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</a:p>
          <a:p>
            <a:pPr>
              <a:spcBef>
                <a:spcPts val="150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2400" b="1" dirty="0">
                <a:solidFill>
                  <a:srgbClr val="000099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How to call an arrow function</a:t>
            </a:r>
          </a:p>
          <a:p>
            <a:pPr marL="347345">
              <a:spcBef>
                <a:spcPts val="0"/>
              </a:spcBef>
              <a:spcAft>
                <a:spcPts val="600"/>
              </a:spcAft>
              <a:tabLst>
                <a:tab pos="1371600" algn="l"/>
              </a:tabLst>
            </a:pP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const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1600" b="1" dirty="0" err="1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getCurrentUrl</a:t>
            </a:r>
            <a:r>
              <a:rPr lang="en-US" sz="16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0626641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210800" cy="800219"/>
          </a:xfrm>
        </p:spPr>
        <p:txBody>
          <a:bodyPr/>
          <a:lstStyle/>
          <a:p>
            <a:r>
              <a:rPr lang="en-US" dirty="0"/>
              <a:t>A function that uses a local variable named tax – page 121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359522"/>
              </p:ext>
            </p:extLst>
          </p:nvPr>
        </p:nvGraphicFramePr>
        <p:xfrm>
          <a:off x="1260475" y="1606550"/>
          <a:ext cx="8551863" cy="1382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564514" imgH="1393011" progId="Word.Document.12">
                  <p:embed/>
                </p:oleObj>
              </mc:Choice>
              <mc:Fallback>
                <p:oleObj name="Document" r:id="rId2" imgW="8564514" imgH="139301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60475" y="1606550"/>
                        <a:ext cx="8551863" cy="13827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1"/>
          <p:cNvSpPr txBox="1">
            <a:spLocks/>
          </p:cNvSpPr>
          <p:nvPr/>
        </p:nvSpPr>
        <p:spPr bwMode="auto">
          <a:xfrm>
            <a:off x="685800" y="3184524"/>
            <a:ext cx="9220200" cy="8002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0" tIns="0" rIns="0" bIns="0" rtlCol="0" anchor="ctr"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600" b="1" i="0" kern="1200" cap="all" spc="100" baseline="0">
                <a:solidFill>
                  <a:srgbClr val="0033CC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A function that uses a global variable named tax</a:t>
            </a:r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37688763"/>
              </p:ext>
            </p:extLst>
          </p:nvPr>
        </p:nvGraphicFramePr>
        <p:xfrm>
          <a:off x="2362200" y="4175125"/>
          <a:ext cx="7300912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1387694" progId="Word.Document.12">
                  <p:embed/>
                </p:oleObj>
              </mc:Choice>
              <mc:Fallback>
                <p:oleObj name="Document" r:id="rId4" imgW="7301323" imgH="1387694" progId="Word.Document.12">
                  <p:embed/>
                  <p:pic>
                    <p:nvPicPr>
                      <p:cNvPr id="7" name="Object 6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62200" y="4175125"/>
                        <a:ext cx="7300912" cy="1387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145268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895C-A94F-16A9-08C8-FE726BDD1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call functions inline – event "attributes"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BE95E2-0F3E-94B5-4E18-CB7D05EE08AC}"/>
              </a:ext>
            </a:extLst>
          </p:cNvPr>
          <p:cNvSpPr txBox="1"/>
          <p:nvPr/>
        </p:nvSpPr>
        <p:spPr>
          <a:xfrm>
            <a:off x="1066800" y="1447800"/>
            <a:ext cx="9296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&lt;!-- The HTML Button --&gt; </a:t>
            </a:r>
          </a:p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&lt;button onclick="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showItem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()"&gt;Click to Show Item&lt;/button&gt;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9F947B-A185-5404-CC80-C2F024B5A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362200"/>
            <a:ext cx="8763000" cy="212407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DCA3B01-07A7-228B-6AC3-FEAFD97D1D9C}"/>
              </a:ext>
            </a:extLst>
          </p:cNvPr>
          <p:cNvSpPr txBox="1"/>
          <p:nvPr/>
        </p:nvSpPr>
        <p:spPr>
          <a:xfrm>
            <a:off x="228600" y="4754344"/>
            <a:ext cx="100584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&lt;!-- The 'return' keyword tells the form whether to submit or stop --&gt; &lt;form action="/submit-page"&gt; </a:t>
            </a:r>
          </a:p>
          <a:p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&lt;button type="submit" onclick="return </a:t>
            </a:r>
            <a:r>
              <a:rPr lang="en-US" b="0" u="none" strike="noStrike" dirty="0" err="1">
                <a:effectLst/>
                <a:latin typeface="Courier New" panose="02070309020205020404" pitchFamily="49" charset="0"/>
              </a:rPr>
              <a:t>validateItem</a:t>
            </a:r>
            <a:r>
              <a:rPr lang="en-US" b="0" u="none" strike="noStrike" dirty="0">
                <a:effectLst/>
                <a:latin typeface="Courier New" panose="02070309020205020404" pitchFamily="49" charset="0"/>
              </a:rPr>
              <a:t>()"&gt;Submit&lt;/button&gt; &lt;/form&gt;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0590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1DD2A-A669-7A27-39E4-5D4EEC6F0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C79DC-8C45-C3BF-A299-AF94699CEC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9372600" cy="400110"/>
          </a:xfrm>
        </p:spPr>
        <p:txBody>
          <a:bodyPr/>
          <a:lstStyle/>
          <a:p>
            <a:r>
              <a:rPr lang="en-US" dirty="0"/>
              <a:t>var, let, const - var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68D1FE-1ED7-3DEB-0C47-E85DF00C4D9D}"/>
              </a:ext>
            </a:extLst>
          </p:cNvPr>
          <p:cNvSpPr txBox="1"/>
          <p:nvPr/>
        </p:nvSpPr>
        <p:spPr>
          <a:xfrm flipH="1">
            <a:off x="838200" y="5650468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DO: Open https://www.freecodecamp.org/news/var-let-and-const-whats-the-difference/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491D931-FA27-55B5-A582-4B403BCC1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7825" y="1214437"/>
            <a:ext cx="8896350" cy="442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0131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FF42E-ADB8-2C2D-1238-A39F914D5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9CB58-940E-B931-753B-A55147BB2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9372600" cy="400110"/>
          </a:xfrm>
        </p:spPr>
        <p:txBody>
          <a:bodyPr/>
          <a:lstStyle/>
          <a:p>
            <a:r>
              <a:rPr lang="en-US" dirty="0"/>
              <a:t>var scope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F3B048-540B-942D-DE55-373C6D118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914400"/>
            <a:ext cx="7972127" cy="538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64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D6868-8751-9FE4-D45D-DABF24148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BDB25-FF1C-A304-342C-CD5E6E034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9372600" cy="400110"/>
          </a:xfrm>
        </p:spPr>
        <p:txBody>
          <a:bodyPr/>
          <a:lstStyle/>
          <a:p>
            <a:r>
              <a:rPr lang="en-US" dirty="0"/>
              <a:t>let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F6738E1-13B6-1933-5851-7A16E0E2DF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075" y="1157287"/>
            <a:ext cx="9610725" cy="4366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8733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E1DD-4656-9128-6106-72D3FED8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B3CB6-C5B3-DFE9-1BCD-547673592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9372600" cy="400110"/>
          </a:xfrm>
        </p:spPr>
        <p:txBody>
          <a:bodyPr/>
          <a:lstStyle/>
          <a:p>
            <a:r>
              <a:rPr lang="en-US" dirty="0"/>
              <a:t>let scope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BD24DF-17A9-C11E-0AB5-067D5BA73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1219200"/>
            <a:ext cx="9493816" cy="398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9462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B55E0-F60F-6464-E4E5-ABF7C6643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EDAD6-7712-425B-80E4-355044B37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9372600" cy="400110"/>
          </a:xfrm>
        </p:spPr>
        <p:txBody>
          <a:bodyPr/>
          <a:lstStyle/>
          <a:p>
            <a:r>
              <a:rPr lang="en-US" dirty="0"/>
              <a:t>let scope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5A4B7D-E562-1913-7552-8ADF1CCA04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4872" y="990600"/>
            <a:ext cx="7509655" cy="5176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3989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B1B24-1AEE-34FA-D0DA-32A59841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DBBF4-C33F-7544-35D1-95105AD41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457200"/>
            <a:ext cx="9372600" cy="400110"/>
          </a:xfrm>
        </p:spPr>
        <p:txBody>
          <a:bodyPr/>
          <a:lstStyle/>
          <a:p>
            <a:r>
              <a:rPr lang="en-US" dirty="0"/>
              <a:t>const scope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0281A4-18B2-10CD-B7C0-89E325C631A8}"/>
              </a:ext>
            </a:extLst>
          </p:cNvPr>
          <p:cNvSpPr txBox="1"/>
          <p:nvPr/>
        </p:nvSpPr>
        <p:spPr>
          <a:xfrm>
            <a:off x="1066800" y="5544234"/>
            <a:ext cx="8420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Every </a:t>
            </a:r>
            <a:r>
              <a:rPr lang="en-US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declaration, therefore, must be initialized at the time of declaration.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2D24D-490A-57BA-2597-3A032D877728}"/>
              </a:ext>
            </a:extLst>
          </p:cNvPr>
          <p:cNvSpPr txBox="1"/>
          <p:nvPr/>
        </p:nvSpPr>
        <p:spPr>
          <a:xfrm>
            <a:off x="838200" y="990600"/>
            <a:ext cx="86487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>
              <a:buNone/>
            </a:pPr>
            <a:r>
              <a:rPr lang="en-US" sz="2400" b="1" dirty="0">
                <a:solidFill>
                  <a:srgbClr val="1B1B32"/>
                </a:solidFill>
                <a:latin typeface="-apple-system"/>
              </a:rPr>
              <a:t>CONST</a:t>
            </a:r>
            <a:endParaRPr lang="en-US" sz="2400" b="1" i="0" dirty="0">
              <a:solidFill>
                <a:srgbClr val="1B1B32"/>
              </a:solidFill>
              <a:effectLst/>
              <a:latin typeface="-apple-system"/>
            </a:endParaRPr>
          </a:p>
          <a:p>
            <a:pPr algn="l" fontAlgn="base">
              <a:buNone/>
            </a:pP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Variables declared with the 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maintain constant values. 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declarations share some similarities with 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let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declarations.</a:t>
            </a:r>
          </a:p>
          <a:p>
            <a:pPr algn="l" fontAlgn="base">
              <a:buNone/>
            </a:pPr>
            <a:endParaRPr lang="en-US" sz="2400" b="1" i="0" dirty="0">
              <a:solidFill>
                <a:srgbClr val="1B1B32"/>
              </a:solidFill>
              <a:effectLst/>
              <a:latin typeface="-apple-system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1B1B32"/>
                </a:solidFill>
                <a:effectLst/>
                <a:latin typeface="-apple-system"/>
              </a:rPr>
              <a:t>const declarations are block scoped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Like 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let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declarations, 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declarations can only be accessed within the block they were declared.</a:t>
            </a:r>
          </a:p>
          <a:p>
            <a:pPr algn="l" fontAlgn="base">
              <a:buNone/>
            </a:pPr>
            <a:endParaRPr lang="en-US" sz="2400" b="1" i="0" dirty="0">
              <a:solidFill>
                <a:srgbClr val="1B1B32"/>
              </a:solidFill>
              <a:effectLst/>
              <a:latin typeface="-apple-system"/>
            </a:endParaRPr>
          </a:p>
          <a:p>
            <a:pPr algn="l" fontAlgn="base">
              <a:buNone/>
            </a:pPr>
            <a:r>
              <a:rPr lang="en-US" sz="2400" b="1" i="0" dirty="0">
                <a:solidFill>
                  <a:srgbClr val="1B1B32"/>
                </a:solidFill>
                <a:effectLst/>
                <a:latin typeface="-apple-system"/>
              </a:rPr>
              <a:t>const cannot be updated or re-declared</a:t>
            </a:r>
          </a:p>
          <a:p>
            <a:pPr algn="l" fontAlgn="base">
              <a:buNone/>
            </a:pP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This means that the value of a variable declared with 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Roboto Mono" panose="00000009000000000000" pitchFamily="49" charset="0"/>
              </a:rPr>
              <a:t>const</a:t>
            </a:r>
            <a:r>
              <a:rPr lang="en-US" sz="2000" b="0" i="0" dirty="0">
                <a:solidFill>
                  <a:srgbClr val="0A0A23"/>
                </a:solidFill>
                <a:effectLst/>
                <a:latin typeface="Lato" panose="020F0502020204030203" pitchFamily="34" charset="0"/>
              </a:rPr>
              <a:t> remains the same within its scope. It cannot be updated or re-declared.</a:t>
            </a:r>
          </a:p>
        </p:txBody>
      </p:sp>
    </p:spTree>
    <p:extLst>
      <p:ext uri="{BB962C8B-B14F-4D97-AF65-F5344CB8AC3E}">
        <p14:creationId xmlns:p14="http://schemas.microsoft.com/office/powerpoint/2010/main" val="6698898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events – page 125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1646713"/>
              </p:ext>
            </p:extLst>
          </p:nvPr>
        </p:nvGraphicFramePr>
        <p:xfrm>
          <a:off x="1449388" y="1216025"/>
          <a:ext cx="10939462" cy="5362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8319302" imgH="4084433" progId="Word.Document.12">
                  <p:embed/>
                </p:oleObj>
              </mc:Choice>
              <mc:Fallback>
                <p:oleObj name="Document" r:id="rId2" imgW="8319302" imgH="408443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449388" y="1216025"/>
                        <a:ext cx="10939462" cy="5362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055702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syntax for attaching an event handler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17008184"/>
              </p:ext>
            </p:extLst>
          </p:nvPr>
        </p:nvGraphicFramePr>
        <p:xfrm>
          <a:off x="1219200" y="1556544"/>
          <a:ext cx="9220200" cy="400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236563" progId="Word.Document.12">
                  <p:embed/>
                </p:oleObj>
              </mc:Choice>
              <mc:Fallback>
                <p:oleObj name="Document" r:id="rId2" imgW="7301323" imgH="23656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219200" y="1556544"/>
                        <a:ext cx="9220200" cy="4001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443135"/>
              </p:ext>
            </p:extLst>
          </p:nvPr>
        </p:nvGraphicFramePr>
        <p:xfrm>
          <a:off x="1828800" y="3036887"/>
          <a:ext cx="7301323" cy="6171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301323" imgH="617513" progId="Word.Document.12">
                  <p:embed/>
                </p:oleObj>
              </mc:Choice>
              <mc:Fallback>
                <p:oleObj name="Document" r:id="rId4" imgW="7301323" imgH="6175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828800" y="3036887"/>
                        <a:ext cx="7301323" cy="6171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8836495"/>
              </p:ext>
            </p:extLst>
          </p:nvPr>
        </p:nvGraphicFramePr>
        <p:xfrm>
          <a:off x="1904999" y="3646487"/>
          <a:ext cx="7300912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301323" imgH="697088" progId="Word.Document.12">
                  <p:embed/>
                </p:oleObj>
              </mc:Choice>
              <mc:Fallback>
                <p:oleObj name="Document" r:id="rId6" imgW="7301323" imgH="69708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904999" y="3646487"/>
                        <a:ext cx="7300912" cy="6969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037222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9448800" cy="800219"/>
          </a:xfrm>
        </p:spPr>
        <p:txBody>
          <a:bodyPr/>
          <a:lstStyle/>
          <a:p>
            <a:r>
              <a:rPr lang="en-US" dirty="0"/>
              <a:t>How to attach the event handler to the click event of a button – although a function, no () at the end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5066077"/>
              </p:ext>
            </p:extLst>
          </p:nvPr>
        </p:nvGraphicFramePr>
        <p:xfrm>
          <a:off x="2514600" y="1600200"/>
          <a:ext cx="7302500" cy="182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01323" imgH="1829135" progId="Word.Document.12">
                  <p:embed/>
                </p:oleObj>
              </mc:Choice>
              <mc:Fallback>
                <p:oleObj name="Document" r:id="rId2" imgW="7301323" imgH="182913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514600" y="1600200"/>
                        <a:ext cx="7302500" cy="1828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7027322"/>
              </p:ext>
            </p:extLst>
          </p:nvPr>
        </p:nvGraphicFramePr>
        <p:xfrm>
          <a:off x="2438400" y="1976437"/>
          <a:ext cx="7518400" cy="165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4" imgW="7521874" imgH="1650902" progId="Word.Document.12">
                  <p:embed/>
                </p:oleObj>
              </mc:Choice>
              <mc:Fallback>
                <p:oleObj name="Document" r:id="rId4" imgW="7521874" imgH="16509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438400" y="1976437"/>
                        <a:ext cx="7518400" cy="1651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63430329"/>
              </p:ext>
            </p:extLst>
          </p:nvPr>
        </p:nvGraphicFramePr>
        <p:xfrm>
          <a:off x="2514601" y="2996846"/>
          <a:ext cx="7301323" cy="14989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6" imgW="7301323" imgH="1498954" progId="Word.Document.12">
                  <p:embed/>
                </p:oleObj>
              </mc:Choice>
              <mc:Fallback>
                <p:oleObj name="Document" r:id="rId6" imgW="7301323" imgH="149895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514601" y="2996846"/>
                        <a:ext cx="7301323" cy="14989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7075235"/>
              </p:ext>
            </p:extLst>
          </p:nvPr>
        </p:nvGraphicFramePr>
        <p:xfrm>
          <a:off x="2451100" y="3424237"/>
          <a:ext cx="7302500" cy="101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7301323" imgH="1015746" progId="Word.Document.12">
                  <p:embed/>
                </p:oleObj>
              </mc:Choice>
              <mc:Fallback>
                <p:oleObj name="Document" r:id="rId8" imgW="7301323" imgH="101574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451100" y="3424237"/>
                        <a:ext cx="7302500" cy="1016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7351880"/>
              </p:ext>
            </p:extLst>
          </p:nvPr>
        </p:nvGraphicFramePr>
        <p:xfrm>
          <a:off x="2514600" y="4440238"/>
          <a:ext cx="7300912" cy="665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10" imgW="7313400" imgH="664880" progId="Word.Document.12">
                  <p:embed/>
                </p:oleObj>
              </mc:Choice>
              <mc:Fallback>
                <p:oleObj name="Document" r:id="rId10" imgW="7313400" imgH="6648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14600" y="4440238"/>
                        <a:ext cx="7300912" cy="665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B63FBEA4-963C-D29B-3BFC-640722C709BE}"/>
              </a:ext>
            </a:extLst>
          </p:cNvPr>
          <p:cNvSpPr txBox="1"/>
          <p:nvPr/>
        </p:nvSpPr>
        <p:spPr>
          <a:xfrm>
            <a:off x="990600" y="5345668"/>
            <a:ext cx="730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 DO: Baxley project here.</a:t>
            </a:r>
          </a:p>
        </p:txBody>
      </p:sp>
    </p:spTree>
    <p:extLst>
      <p:ext uri="{BB962C8B-B14F-4D97-AF65-F5344CB8AC3E}">
        <p14:creationId xmlns:p14="http://schemas.microsoft.com/office/powerpoint/2010/main" val="35484238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9753600" cy="400110"/>
          </a:xfrm>
        </p:spPr>
        <p:txBody>
          <a:bodyPr/>
          <a:lstStyle/>
          <a:p>
            <a:r>
              <a:rPr lang="en-US" dirty="0"/>
              <a:t>To do: Develop the Income Tax Calculator</a:t>
            </a:r>
          </a:p>
        </p:txBody>
      </p:sp>
      <p:graphicFrame>
        <p:nvGraphicFramePr>
          <p:cNvPr id="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7392139"/>
              </p:ext>
            </p:extLst>
          </p:nvPr>
        </p:nvGraphicFramePr>
        <p:xfrm>
          <a:off x="1752600" y="879362"/>
          <a:ext cx="7313400" cy="49880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313400" imgH="4988039" progId="Word.Document.12">
                  <p:embed/>
                </p:oleObj>
              </mc:Choice>
              <mc:Fallback>
                <p:oleObj name="Document" r:id="rId2" imgW="7313400" imgH="498803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752600" y="879362"/>
                        <a:ext cx="7313400" cy="49880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708661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438400" y="885854"/>
            <a:ext cx="7315200" cy="400110"/>
          </a:xfrm>
        </p:spPr>
        <p:txBody>
          <a:bodyPr/>
          <a:lstStyle/>
          <a:p>
            <a:r>
              <a:rPr lang="en-US" dirty="0"/>
              <a:t>To do: convert MPG app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FDCE28-7FCD-FCE8-0DFD-F4868F1751D3}"/>
              </a:ext>
            </a:extLst>
          </p:cNvPr>
          <p:cNvSpPr txBox="1"/>
          <p:nvPr/>
        </p:nvSpPr>
        <p:spPr>
          <a:xfrm>
            <a:off x="1371600" y="5029200"/>
            <a:ext cx="708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only the methods that we've learned so far; create the form in HTML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9BD1FF0-C526-95C2-A61B-2F919E830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413" y="1376363"/>
            <a:ext cx="8016084" cy="3500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51701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044AA-A9C1-C9FC-A159-F3BD64476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0918CB4-A0AF-B7CB-FBBC-56FF9FFBE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8400" y="885854"/>
            <a:ext cx="7315200" cy="400110"/>
          </a:xfrm>
        </p:spPr>
        <p:txBody>
          <a:bodyPr/>
          <a:lstStyle/>
          <a:p>
            <a:r>
              <a:rPr lang="en-US" dirty="0"/>
              <a:t>convert chapter three Future Value app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0ACD4B-6BE1-4AA3-C6A6-5784F9AE06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905000"/>
            <a:ext cx="6400000" cy="21428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2883838-1167-9DFB-6D3A-AFCAECD3EB40}"/>
              </a:ext>
            </a:extLst>
          </p:cNvPr>
          <p:cNvSpPr txBox="1"/>
          <p:nvPr/>
        </p:nvSpPr>
        <p:spPr>
          <a:xfrm>
            <a:off x="1371600" y="5029200"/>
            <a:ext cx="67371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 only the methods that we've learned so far; </a:t>
            </a:r>
          </a:p>
          <a:p>
            <a:r>
              <a:rPr lang="en-US" dirty="0"/>
              <a:t>create the form in HTML – create a main folder and correct subfolders</a:t>
            </a:r>
          </a:p>
        </p:txBody>
      </p:sp>
    </p:spTree>
    <p:extLst>
      <p:ext uri="{BB962C8B-B14F-4D97-AF65-F5344CB8AC3E}">
        <p14:creationId xmlns:p14="http://schemas.microsoft.com/office/powerpoint/2010/main" val="251800137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MTC Colors 2018">
      <a:dk1>
        <a:srgbClr val="142C45"/>
      </a:dk1>
      <a:lt1>
        <a:sysClr val="window" lastClr="FFFFFF"/>
      </a:lt1>
      <a:dk2>
        <a:srgbClr val="142C45"/>
      </a:dk2>
      <a:lt2>
        <a:srgbClr val="FFFFFE"/>
      </a:lt2>
      <a:accent1>
        <a:srgbClr val="192F5E"/>
      </a:accent1>
      <a:accent2>
        <a:srgbClr val="236E9E"/>
      </a:accent2>
      <a:accent3>
        <a:srgbClr val="F7A800"/>
      </a:accent3>
      <a:accent4>
        <a:srgbClr val="E75300"/>
      </a:accent4>
      <a:accent5>
        <a:srgbClr val="80BF1F"/>
      </a:accent5>
      <a:accent6>
        <a:srgbClr val="007166"/>
      </a:accent6>
      <a:hlink>
        <a:srgbClr val="879392"/>
      </a:hlink>
      <a:folHlink>
        <a:srgbClr val="BFC7C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1" id="{0313CD60-EA42-4A94-BBFB-17F9DF7D6425}" vid="{7B87027D-15CC-4AF2-9035-E41911AE03E6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2319</TotalTime>
  <Words>761</Words>
  <Application>Microsoft Office PowerPoint</Application>
  <PresentationFormat>Widescreen</PresentationFormat>
  <Paragraphs>89</Paragraphs>
  <Slides>29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40" baseType="lpstr">
      <vt:lpstr>-apple-system</vt:lpstr>
      <vt:lpstr>Arial</vt:lpstr>
      <vt:lpstr>Arial Narrow</vt:lpstr>
      <vt:lpstr>Calibri</vt:lpstr>
      <vt:lpstr>Courier New</vt:lpstr>
      <vt:lpstr>Google Sans</vt:lpstr>
      <vt:lpstr>Lato</vt:lpstr>
      <vt:lpstr>Roboto Mono</vt:lpstr>
      <vt:lpstr>Times New Roman</vt:lpstr>
      <vt:lpstr>Theme1</vt:lpstr>
      <vt:lpstr>Document</vt:lpstr>
      <vt:lpstr>Chapter 4</vt:lpstr>
      <vt:lpstr>Another method of the window object  that displays a dialog box – page 109</vt:lpstr>
      <vt:lpstr>Three methods of the document object</vt:lpstr>
      <vt:lpstr>Members of the Textbox object – page 111</vt:lpstr>
      <vt:lpstr>HTML tags that define two text boxes</vt:lpstr>
      <vt:lpstr>How to use the parseFloat method to get a number value from a text box</vt:lpstr>
      <vt:lpstr>How to create a JavaScript object – page 113</vt:lpstr>
      <vt:lpstr>Properties and methods of a String object</vt:lpstr>
      <vt:lpstr>The DOM for the web page – page 115</vt:lpstr>
      <vt:lpstr>The syntax for a function expression – page 117</vt:lpstr>
      <vt:lpstr>A function expression with no parameters that doesn’t return a value</vt:lpstr>
      <vt:lpstr>A function expression with two parameters that returns a value</vt:lpstr>
      <vt:lpstr>The syntax for a function declaration – page 119</vt:lpstr>
      <vt:lpstr>Es6 – The syntax for an arrow function </vt:lpstr>
      <vt:lpstr>Es6 – An arrow function with one parameter </vt:lpstr>
      <vt:lpstr>A function that uses a local variable named tax – page 121</vt:lpstr>
      <vt:lpstr>how to call functions inline – event "attributes"</vt:lpstr>
      <vt:lpstr>var, let, const - var</vt:lpstr>
      <vt:lpstr>var scope</vt:lpstr>
      <vt:lpstr>let scope</vt:lpstr>
      <vt:lpstr>let scope</vt:lpstr>
      <vt:lpstr>let scope</vt:lpstr>
      <vt:lpstr>const scope</vt:lpstr>
      <vt:lpstr>Common events – page 125</vt:lpstr>
      <vt:lpstr>The syntax for attaching an event handler</vt:lpstr>
      <vt:lpstr>How to attach the event handler to the click event of a button – although a function, no () at the end</vt:lpstr>
      <vt:lpstr>To do: Develop the Income Tax Calculator</vt:lpstr>
      <vt:lpstr>To do: convert MPG app</vt:lpstr>
      <vt:lpstr>convert chapter three Future Value app</vt:lpstr>
    </vt:vector>
  </TitlesOfParts>
  <Company>Mike Murach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Stephen</dc:creator>
  <cp:lastModifiedBy>Tiana Langer</cp:lastModifiedBy>
  <cp:revision>117</cp:revision>
  <cp:lastPrinted>2015-09-17T21:49:39Z</cp:lastPrinted>
  <dcterms:created xsi:type="dcterms:W3CDTF">2010-11-30T18:46:51Z</dcterms:created>
  <dcterms:modified xsi:type="dcterms:W3CDTF">2026-07-06T16:47:20Z</dcterms:modified>
</cp:coreProperties>
</file>